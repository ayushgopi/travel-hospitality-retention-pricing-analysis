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cfa8dd48cb461d" /><Relationship Type="http://schemas.openxmlformats.org/officeDocument/2006/relationships/extended-properties" Target="/docProps/app.xml" Id="R42a803cd41184e65" /><Relationship Type="http://schemas.openxmlformats.org/officeDocument/2006/relationships/officeDocument" Target="/ppt/presentation.xml" Id="Rd7ad5477a3fb42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dc020a5f824a07"/>
  </p:sldMasterIdLst>
  <p:notesMasterIdLst>
    <p:notesMasterId xmlns:r="http://schemas.openxmlformats.org/officeDocument/2006/relationships" r:id="R065870dd409946c4"/>
  </p:notesMasterIdLst>
  <p:sldIdLst>
    <p:sldId xmlns:r="http://schemas.openxmlformats.org/officeDocument/2006/relationships" id="256" r:id="R6128d1e4f3404451"/>
    <p:sldId xmlns:r="http://schemas.openxmlformats.org/officeDocument/2006/relationships" id="257" r:id="R320c51f475da45e6"/>
    <p:sldId xmlns:r="http://schemas.openxmlformats.org/officeDocument/2006/relationships" id="258" r:id="Rba4f229b5f574500"/>
    <p:sldId xmlns:r="http://schemas.openxmlformats.org/officeDocument/2006/relationships" id="259" r:id="Ree40cad8b8be4368"/>
    <p:sldId xmlns:r="http://schemas.openxmlformats.org/officeDocument/2006/relationships" id="260" r:id="R959e29ccab184e7e"/>
    <p:sldId xmlns:r="http://schemas.openxmlformats.org/officeDocument/2006/relationships" id="261" r:id="Ra890ade15719420e"/>
    <p:sldId xmlns:r="http://schemas.openxmlformats.org/officeDocument/2006/relationships" id="262" r:id="R2a96c0b3ec514960"/>
    <p:sldId xmlns:r="http://schemas.openxmlformats.org/officeDocument/2006/relationships" id="263" r:id="R6e80e209ae2c4bb0"/>
    <p:sldId xmlns:r="http://schemas.openxmlformats.org/officeDocument/2006/relationships" id="264" r:id="R97518be2ece946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94183baca94354" /><Relationship Type="http://schemas.openxmlformats.org/officeDocument/2006/relationships/slideMaster" Target="/ppt/slideMasters/slideMaster1.xml" Id="R23dc020a5f824a07" /><Relationship Type="http://schemas.openxmlformats.org/officeDocument/2006/relationships/notesMaster" Target="/ppt/notesMasters/notesMaster1.xml" Id="R065870dd409946c4" /><Relationship Type="http://schemas.openxmlformats.org/officeDocument/2006/relationships/presProps" Target="/ppt/presProps.xml" Id="Rfc82cad54feb4401" /><Relationship Type="http://schemas.openxmlformats.org/officeDocument/2006/relationships/tableStyles" Target="/ppt/tableStyles.xml" Id="Rd90f295547f24656" /><Relationship Type="http://schemas.openxmlformats.org/officeDocument/2006/relationships/slide" Target="/ppt/slides/slide1.xml" Id="R6128d1e4f3404451" /><Relationship Type="http://schemas.openxmlformats.org/officeDocument/2006/relationships/slide" Target="/ppt/slides/slide2.xml" Id="R320c51f475da45e6" /><Relationship Type="http://schemas.openxmlformats.org/officeDocument/2006/relationships/slide" Target="/ppt/slides/slide3.xml" Id="Rba4f229b5f574500" /><Relationship Type="http://schemas.openxmlformats.org/officeDocument/2006/relationships/slide" Target="/ppt/slides/slide4.xml" Id="Ree40cad8b8be4368" /><Relationship Type="http://schemas.openxmlformats.org/officeDocument/2006/relationships/slide" Target="/ppt/slides/slide5.xml" Id="R959e29ccab184e7e" /><Relationship Type="http://schemas.openxmlformats.org/officeDocument/2006/relationships/slide" Target="/ppt/slides/slide6.xml" Id="Ra890ade15719420e" /><Relationship Type="http://schemas.openxmlformats.org/officeDocument/2006/relationships/slide" Target="/ppt/slides/slide7.xml" Id="R2a96c0b3ec514960" /><Relationship Type="http://schemas.openxmlformats.org/officeDocument/2006/relationships/slide" Target="/ppt/slides/slide8.xml" Id="R6e80e209ae2c4bb0" /><Relationship Type="http://schemas.openxmlformats.org/officeDocument/2006/relationships/slide" Target="/ppt/slides/slide9.xml" Id="R97518be2ece946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718eccc81843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f0fa39a0a47c3" /><Relationship Type="http://schemas.openxmlformats.org/officeDocument/2006/relationships/notesMaster" Target="/ppt/notesMasters/notesMaster1.xml" Id="Rf73ead08b37a4f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ec4d639d546c5" /><Relationship Type="http://schemas.openxmlformats.org/officeDocument/2006/relationships/notesMaster" Target="/ppt/notesMasters/notesMaster1.xml" Id="Rb08e6ffb223c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f510e3085d4e2d" /><Relationship Type="http://schemas.openxmlformats.org/officeDocument/2006/relationships/notesMaster" Target="/ppt/notesMasters/notesMaster1.xml" Id="R0aab45701c544f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f244a74cb34657" /><Relationship Type="http://schemas.openxmlformats.org/officeDocument/2006/relationships/notesMaster" Target="/ppt/notesMasters/notesMaster1.xml" Id="R1a3a92b1772044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d6ff59fd514044" /><Relationship Type="http://schemas.openxmlformats.org/officeDocument/2006/relationships/notesMaster" Target="/ppt/notesMasters/notesMaster1.xml" Id="Re272065b898b4b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604cdf91734ab9" /><Relationship Type="http://schemas.openxmlformats.org/officeDocument/2006/relationships/notesMaster" Target="/ppt/notesMasters/notesMaster1.xml" Id="Rc515d49b9edb4f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bbeb27a5a14576" /><Relationship Type="http://schemas.openxmlformats.org/officeDocument/2006/relationships/notesMaster" Target="/ppt/notesMasters/notesMaster1.xml" Id="Ra905433dee834c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727d6ed26146a8" /><Relationship Type="http://schemas.openxmlformats.org/officeDocument/2006/relationships/notesMaster" Target="/ppt/notesMasters/notesMaster1.xml" Id="Rd4ecc6d14b6b4c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f54f0a45fa4472" /><Relationship Type="http://schemas.openxmlformats.org/officeDocument/2006/relationships/notesMaster" Target="/ppt/notesMasters/notesMaster1.xml" Id="Rf0e528dfcd884c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aa6191c8548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ac6445fc54c00" /><Relationship Type="http://schemas.openxmlformats.org/officeDocument/2006/relationships/slideLayout" Target="/ppt/slideLayouts/slideLayout1.xml" Id="R5284420c3dcb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84420c3dcb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da674365f4ca4" /><Relationship Type="http://schemas.openxmlformats.org/officeDocument/2006/relationships/notesSlide" Target="/ppt/notesSlides/notesSlide1.xml" Id="R18d93da8c90741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caba1cefe4d61" /><Relationship Type="http://schemas.openxmlformats.org/officeDocument/2006/relationships/notesSlide" Target="/ppt/notesSlides/notesSlide2.xml" Id="R4ec8a5eed8aa4f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9b9828f1246b9" /><Relationship Type="http://schemas.openxmlformats.org/officeDocument/2006/relationships/notesSlide" Target="/ppt/notesSlides/notesSlide3.xml" Id="Rf5cb9d84fe284b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0bfd9aa164440" /><Relationship Type="http://schemas.openxmlformats.org/officeDocument/2006/relationships/image" Target="/ppt/media/image.png" Id="R0b223a48896f44e1" /><Relationship Type="http://schemas.openxmlformats.org/officeDocument/2006/relationships/image" Target="/ppt/media/image2.png" Id="R22fa8996be124c82" /><Relationship Type="http://schemas.openxmlformats.org/officeDocument/2006/relationships/notesSlide" Target="/ppt/notesSlides/notesSlide4.xml" Id="R13990a24002c43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fd2e3ae14439f" /><Relationship Type="http://schemas.openxmlformats.org/officeDocument/2006/relationships/image" Target="/ppt/media/image3.png" Id="Rbcd95fde46f54d7b" /><Relationship Type="http://schemas.openxmlformats.org/officeDocument/2006/relationships/image" Target="/ppt/media/image4.png" Id="Rf77717ada7bf42e4" /><Relationship Type="http://schemas.openxmlformats.org/officeDocument/2006/relationships/notesSlide" Target="/ppt/notesSlides/notesSlide5.xml" Id="R7580f8a8be3946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c88e79604446f" /><Relationship Type="http://schemas.openxmlformats.org/officeDocument/2006/relationships/notesSlide" Target="/ppt/notesSlides/notesSlide6.xml" Id="R2e8b9d047d384d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22d96d2ce4f12" /><Relationship Type="http://schemas.openxmlformats.org/officeDocument/2006/relationships/image" Target="/ppt/media/image5.png" Id="R8c9f9b8b670842a3" /><Relationship Type="http://schemas.openxmlformats.org/officeDocument/2006/relationships/image" Target="/ppt/media/image6.png" Id="R80cd11d79a174366" /><Relationship Type="http://schemas.openxmlformats.org/officeDocument/2006/relationships/notesSlide" Target="/ppt/notesSlides/notesSlide7.xml" Id="R6841f27d3bf749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dbbb75be44d5c" /><Relationship Type="http://schemas.openxmlformats.org/officeDocument/2006/relationships/notesSlide" Target="/ppt/notesSlides/notesSlide8.xml" Id="R9460181382154e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8e7419fca42df" /><Relationship Type="http://schemas.openxmlformats.org/officeDocument/2006/relationships/notesSlide" Target="/ppt/notesSlides/notesSlide9.xml" Id="R0148ea19a82744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F4A56-C008-405D-A9CB-78652978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Customer Retention and Dynamic Pricing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35AC3-5A3E-4337-B1D9-7EA6D64C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Hotel Booking Demand dataset | Week 4 final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B0C1A-A94C-4D51-98E4-D99BA98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86,638 bookings  ·  27.69% canceled  ·  Best model ROC-AUC 0.854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95422-2875-46A7-B64D-71889C37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"/>
            <a:ext cx="2476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2084F-DD35-4AD4-8FAC-5EAA05AB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76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Final deliverables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7B770-090F-4BB4-9227-9EE36868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28750"/>
            <a:ext cx="2000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Clean dataset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EDA reports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20+ visuals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Baseline model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Business deck</a:t>
            </a:r>
          </a:p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Revenue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F2331-01F3-422D-9037-76D122B3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74A55-A504-4795-A7B6-6A32CD8C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05460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32891-5629-4D9F-96C6-24A6BC39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Executive KPI snapshot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3CAD8-2D6E-4F80-82BA-81F2A77D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portfolio has meaningful cancellation leakage and clear pricing seasonality.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79C8F-4410-493B-911E-B2892E04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9A1D2-3910-4B16-B0BA-33DE95D2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0816D-E64A-4ADE-92BC-D62EED5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43CFB-16D5-46FD-81BD-4D2D2DDA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86,638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C0003-ABF8-49D3-A7E4-CB4C34CF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Cleaned bookings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03274-3044-45AF-9930-B63DEB7F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Validated after duplicates, invalid rows, and outlier treatment.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8E51E-051C-46AC-9610-27A02EC5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27.69%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C6306-9C4D-41FD-8A40-EC5F5DA3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Cancellation 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0ADB0-6FF6-43A0-9CF8-6CF734D9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Primary retention KPI and input for expected revenue.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7AADC-58A0-47B1-AF39-5168CCAFC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107.04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FBE44-B7D3-4A99-900B-A1D7D076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Average ADR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B27C8-75AE-46A9-B424-CAFD01D9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9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Baseline daily price after ADR outlier capping.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79F370-3737-4D2D-8917-E4FCE718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0.854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A46C3-6561-490F-BA9B-770A840A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Best model ROC-AUC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C93E4-286B-4827-8FAC-1ED7AAD1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Logistic Regression ranks cancellation risk effectively.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C7A41A-7DAF-4D24-8917-A646AEB7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Business implication: pricing decisions should use expected revenue, not raw bookings alone.</a:t>
            </a:r>
          </a:p>
        </p:txBody>
      </p:sp>
    </p:spTree>
    <p:extLst>
      <p:ext uri="{BB962C8B-B14F-4D97-AF65-F5344CB8AC3E}">
        <p14:creationId xmlns:p14="http://schemas.microsoft.com/office/powerpoint/2010/main" val="12774221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A4141-4E88-47A9-B89F-4D63E2AD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Data foundation is ready for decisioning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3C72D-D498-4BDC-A98A-42C3E579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Week 1 created a reliable analytics base for reporting, modeling, and dashboards.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083A35-19AF-474A-BF7E-E60101D5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9F552-4041-4519-8391-0496BFD4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DD6A6-5B34-4241-AB5C-1641A557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E26D17-E889-4565-B688-3D15113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Cleaning 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89674-6ECD-47DC-AD76-5C3517E3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3905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Removed 31,994 duplicates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Handled missing company, agent, country, and children values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Removed zero-guest, zero-night, and negative ADR records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Capped ADR and lead-time outliers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CB029-F5FD-4C14-8AB0-7A3CBF2D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62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Engineered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E0E76-CD1D-4CCE-8FF6-71F16063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total_stay and total_guests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booking_season and arrival date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booking_value and ADR per guest</a:t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lead-time, stay-length, traveller, and value segments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00846-9F2F-4EC4-A9B0-4512F64F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C9A7B-26BF-4362-A0BF-3996C679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Output: cleaned_hotel_bookings.csv with 57 columns and no remaining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1759574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A7B4DB-7B13-4370-91BA-E7D3799F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Cancellation risk is segment-driven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BBB07-F274-4FA8-A0F3-3F16B247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Lead time, hotel type, market segment, deposit type, and geography materially change risk.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50CC3-0D13-45D8-8B2D-B89823A6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C9CD3-275E-401E-8318-A1B1DEB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D3703-A422-4E9B-83B1-D3A5398F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23a48896f44e1"/>
          <a:stretch xmlns:a="http://schemas.openxmlformats.org/drawingml/2006/main"/>
        </p:blipFill>
        <p:spPr>
          <a:xfrm xmlns:a="http://schemas.openxmlformats.org/drawingml/2006/main">
            <a:off x="400050" y="1934128"/>
            <a:ext cx="5334000" cy="3084994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a8996be124c82"/>
          <a:stretch xmlns:a="http://schemas.openxmlformats.org/drawingml/2006/main"/>
        </p:blipFill>
        <p:spPr>
          <a:xfrm xmlns:a="http://schemas.openxmlformats.org/drawingml/2006/main">
            <a:off x="6305550" y="1991358"/>
            <a:ext cx="5143500" cy="29705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91E2D-22F0-4DD3-9D4B-D4A36381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Recommendation: prioritize high-risk lead-time and market-segment combinations for pre-arrival retention campaigns.</a:t>
            </a:r>
          </a:p>
        </p:txBody>
      </p:sp>
    </p:spTree>
    <p:extLst>
      <p:ext uri="{BB962C8B-B14F-4D97-AF65-F5344CB8AC3E}">
        <p14:creationId xmlns:p14="http://schemas.microsoft.com/office/powerpoint/2010/main" val="599372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67DC66-FFC8-49FB-9B54-4A964333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Seasonality supports dynamic 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41A33-67AD-42A9-A4B6-B640E22F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Demand and ADR peak patterns justify month- and season-aware rate rules.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C6766-9C23-46E3-9A1D-B1BB1724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1F920-C57C-4F38-B975-163AA854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ED2AF-638E-4B8C-B9D8-BFF6B651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d95fde46f54d7b"/>
          <a:stretch xmlns:a="http://schemas.openxmlformats.org/drawingml/2006/main"/>
        </p:blipFill>
        <p:spPr>
          <a:xfrm xmlns:a="http://schemas.openxmlformats.org/drawingml/2006/main">
            <a:off x="514350" y="2030850"/>
            <a:ext cx="5429250" cy="2891551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717ada7bf42e4"/>
          <a:stretch xmlns:a="http://schemas.openxmlformats.org/drawingml/2006/main"/>
        </p:blipFill>
        <p:spPr>
          <a:xfrm xmlns:a="http://schemas.openxmlformats.org/drawingml/2006/main">
            <a:off x="6381750" y="2719510"/>
            <a:ext cx="4953000" cy="151423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6D97E-D14A-46B4-B9C3-E8FBDB37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768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Recommendation: set seasonal price floors, then adjust by cancellation probability and inventory pressure.</a:t>
            </a:r>
          </a:p>
        </p:txBody>
      </p:sp>
    </p:spTree>
    <p:extLst>
      <p:ext uri="{BB962C8B-B14F-4D97-AF65-F5344CB8AC3E}">
        <p14:creationId xmlns:p14="http://schemas.microsoft.com/office/powerpoint/2010/main" val="9810344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E46FB-CD2D-4DF8-AC64-4CCCD6F0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Customer segmentation creates action paths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EA799-109D-49FD-9F1A-A6C948E5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Segments convert descriptive analysis into campaign and pricing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3B631-2239-4522-A63E-FCF074C9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6A610-71EA-4B10-85A3-B5CA7446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0231E-BC53-495E-9D3D-D9B70738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06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42950" y="1962150"/>
          <a:ext xmlns:a="http://schemas.openxmlformats.org/drawingml/2006/main" cx="100965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65500"/>
                <a:gridCol w="3365500"/>
                <a:gridCol w="3365500"/>
              </a:tblGrid>
              <a:tr h="5238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Segment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Primary action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0000"/>
                          </a:solidFill>
                        </a:rPr>
                        <a:t>Business goal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Business travellers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Weekday corporate packages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Protect midweek occupancy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Leisure travellers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Seasonal bundles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Increase ancillary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Early planners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Pre-arrival reminders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Reduce long-lead churn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Last-minute bookers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Yield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Capture remaining demand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High-value customers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Retention offers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</a:rPr>
                        <a:t>Protect booking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D50C1-8DF1-4E18-80FE-2EED4D86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Use model risk scores inside each segment to decide who receives discounts, reminders, or stricter deposit rules.</a:t>
            </a:r>
          </a:p>
        </p:txBody>
      </p:sp>
    </p:spTree>
    <p:extLst>
      <p:ext uri="{BB962C8B-B14F-4D97-AF65-F5344CB8AC3E}">
        <p14:creationId xmlns:p14="http://schemas.microsoft.com/office/powerpoint/2010/main" val="9533545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6ED6E2-11F3-424F-9C29-E4D9B776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Baseline model prioritizes cancellation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84987-017E-46D8-B824-C801B34B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Week 3 established a predictive foundation, not a final production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775CC-F59E-4C8D-B1DF-67155240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CB8FA-AFF8-4875-93FB-66351B55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5C3D0-A3D0-41CF-A2F4-2DA80E60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9f9b8b670842a3"/>
          <a:stretch xmlns:a="http://schemas.openxmlformats.org/drawingml/2006/main"/>
        </p:blipFill>
        <p:spPr>
          <a:xfrm xmlns:a="http://schemas.openxmlformats.org/drawingml/2006/main">
            <a:off x="662403" y="1809750"/>
            <a:ext cx="4809294" cy="33337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d11d79a174366"/>
          <a:stretch xmlns:a="http://schemas.openxmlformats.org/drawingml/2006/main"/>
        </p:blipFill>
        <p:spPr>
          <a:xfrm xmlns:a="http://schemas.openxmlformats.org/drawingml/2006/main">
            <a:off x="6451529" y="1809750"/>
            <a:ext cx="4622942" cy="3333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78CF3-B367-4B18-8A09-161DFF8E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Logistic Regression: 76.5% accuracy, 78.8% recall, 0.854 ROC-AUC. Use it to rank cancellation risk and tune thresholds by business cost.</a:t>
            </a:r>
          </a:p>
        </p:txBody>
      </p:sp>
    </p:spTree>
    <p:extLst>
      <p:ext uri="{BB962C8B-B14F-4D97-AF65-F5344CB8AC3E}">
        <p14:creationId xmlns:p14="http://schemas.microsoft.com/office/powerpoint/2010/main" val="539069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31D23-C0A3-4961-BA32-36F75B7A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Operating model for revenue and retention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C5E28-8EB6-47D2-BD2F-3727095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Convert analysis into repeatable daily actions for revenue managers and marketers.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07102-4B27-49CA-8476-683771E3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4874E-BB4C-47F9-B177-4B4CBACA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53816-14DF-449A-BFB8-99E75C29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80733-F138-4CF5-A6BE-2C44CF23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E1973-98C1-4D0D-A700-5E0B7DBE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B455E-E8C2-492B-A4CD-7AFFD651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857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1B29A2-3665-40EB-85A6-B163E761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144DF-2681-4429-A619-188D834A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BFF7D-B0BD-4E80-8CAF-B5DD8F8F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Generate cancellation probability for every active booking.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3EF90-452B-4F27-BC1C-8A6A13B4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717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14CB1-6B84-4B45-8552-CC3EDCD8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Adjust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19F78F-DE13-4085-8141-9B7CFE66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Calculate expected revenue and modify rate rules by season and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F90CCD-B7DB-4C1B-A50A-3E30E2D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5C8FB-1E1D-4D23-A2FC-C3E34B10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98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16D0E-1975-4F57-B1C5-517B27D9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Target high-risk, high-value guests with relevant pre-arrival offers.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E2AD21-5805-4DF1-8AD2-308D196B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Expected revenue = booking value × (1 - cancellation probability)</a:t>
            </a:r>
          </a:p>
        </p:txBody>
      </p:sp>
    </p:spTree>
    <p:extLst>
      <p:ext uri="{BB962C8B-B14F-4D97-AF65-F5344CB8AC3E}">
        <p14:creationId xmlns:p14="http://schemas.microsoft.com/office/powerpoint/2010/main" val="6619014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DFDDC4-D5DE-4B03-A09B-A9024AAE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Final handoff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C9CAD-D41D-49D7-969C-3A70D46E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The project is ready for submission and future Week 4 dashboard expansion.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8658D-B9B2-4B42-B109-5EC41DE5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669B9-E4EE-48C3-B5FE-C5DD179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Travel, Tourism &amp; Hospitality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96FE7-208E-4BCC-A09D-626A6721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5B70D-FE33-4A11-859A-247DE0D4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Delivered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7E5AF-9394-4860-A02D-3BB972BB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00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Cleaned data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EDA notebook and visuals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Modeling notebook and report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Dashboard summary table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Final business report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Final presentation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03CCA-BCEE-4A8C-A984-F10B243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Next 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9901A-BCB0-49ED-9B44-EFE9A0D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191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Interactive Power BI or Tableau dashboard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Cross-validation and threshold tuning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Automated refresh workflow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Business-cost matrix for retention offers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Pilot campaign measurement 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F3117-6877-4D8B-988F-1D6A09AF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Submission link: GitHub repository contains all source code, reports, visuals, SQL, notebooks, and generated outputs.</a:t>
            </a:r>
          </a:p>
        </p:txBody>
      </p:sp>
    </p:spTree>
    <p:extLst>
      <p:ext uri="{BB962C8B-B14F-4D97-AF65-F5344CB8AC3E}">
        <p14:creationId xmlns:p14="http://schemas.microsoft.com/office/powerpoint/2010/main" val="1257143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2026-06-30T12:18:48.3610000Z</dcterms:created>
  <dcterms:modified xsi:type="dcterms:W3CDTF">2026-06-30T12:18:48.3610000Z</dcterms:modified>
</coreProperties>
</file>